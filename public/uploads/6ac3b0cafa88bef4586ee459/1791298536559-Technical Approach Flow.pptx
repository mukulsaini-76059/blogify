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</ns0:sldIdLst>
  <ns0:sldSz cx="12192000" cy="6858000" type="screen4x3"/>
  <ns0:notesSz cx="6858000" cy="9144000"/>
  <ns0:embeddedFontLst>
    <ns0:embeddedFont>
      <ns0:font typeface="Inter"/>
      <ns0:bold ns1:id="rIdFont8"/>
      <ns0:regular ns1:id="rIdFont9"/>
    </ns0:embeddedFont>
    <ns0:embeddedFont>
      <ns0:font typeface="Plus Jakarta Sans"/>
      <ns0:bold ns1:id="rIdFont1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Font8" Type="http://schemas.openxmlformats.org/officeDocument/2006/relationships/font" Target="fonts/a60f586b-015c-40cc-a6f0-3753444747cd.fntdata" /><ns0:Relationship Id="rIdFont9" Type="http://schemas.openxmlformats.org/officeDocument/2006/relationships/font" Target="fonts/01ce33d4-b046-47c1-a754-16f2a87a82f7.fntdata" /><ns0:Relationship Id="rIdFont10" Type="http://schemas.openxmlformats.org/officeDocument/2006/relationships/font" Target="fonts/158b78f6-0607-426f-8fbf-04b1bda16da0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981700"/>
            <a:ext cx="109728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981700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695575"/>
            <a:ext cx="2457450" cy="2080170"/>
          </a:xfrm>
          <a:prstGeom prst="roundRect">
            <a:avLst>
              <a:gd name="adj" fmla="val 7326"/>
            </a:avLst>
          </a:prstGeom>
          <a:solidFill>
            <a:srgbClr val="F0F8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48050" y="2695575"/>
            <a:ext cx="2457450" cy="2080170"/>
          </a:xfrm>
          <a:prstGeom prst="roundRect">
            <a:avLst>
              <a:gd name="adj" fmla="val 7326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86500" y="2695575"/>
            <a:ext cx="2457450" cy="2080170"/>
          </a:xfrm>
          <a:prstGeom prst="roundRect">
            <a:avLst>
              <a:gd name="adj" fmla="val 7326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24950" y="2695575"/>
            <a:ext cx="2457450" cy="2080170"/>
          </a:xfrm>
          <a:prstGeom prst="roundRect">
            <a:avLst>
              <a:gd name="adj" fmla="val 7326"/>
            </a:avLst>
          </a:prstGeom>
          <a:solidFill>
            <a:srgbClr val="FEFCE8"/>
          </a:solidFill>
          <a:ln w="9525">
            <a:solidFill>
              <a:srgbClr val="FEF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125075" y="29718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EF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725" y="2971800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1350" y="3649860"/>
            <a:ext cx="15240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175" y="2971800"/>
            <a:ext cx="457200" cy="457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3649860"/>
            <a:ext cx="15240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6625" y="2971800"/>
            <a:ext cx="45720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0" y="3649860"/>
            <a:ext cx="152400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3550" y="3095625"/>
            <a:ext cx="209550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3095625"/>
            <a:ext cx="209550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10450" y="3095625"/>
            <a:ext cx="209550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4125" y="3114675"/>
            <a:ext cx="171450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72725" y="3114675"/>
            <a:ext cx="190500" cy="1714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TECHNICAL APPROACH &amp;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7810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End-to-End Ensemble Monsoon Prediction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181725"/>
            <a:ext cx="49053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Inter"/>
              </a:rPr>
              <a:t>Operational Framework — Automated Meteorology &amp; Hydrology Division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53675" y="6181725"/>
            <a:ext cx="1535906" cy="142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Inter"/>
              </a:rPr>
              <a:t>Pipeline Status: Active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38275" y="3600450"/>
            <a:ext cx="8001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369A1"/>
                </a:solidFill>
                <a:latin typeface="Inter"/>
              </a:rPr>
              <a:t>STEP 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6939" y="3800475"/>
            <a:ext cx="2162770" cy="1980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b="1" sz="1200" i="0" u="none">
                <a:solidFill>
                  <a:srgbClr val="0F172A"/>
                </a:solidFill>
                <a:latin typeface="Plus Jakarta Sans"/>
              </a:rPr>
              <a:t>FIND MONSOON 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2450" y="4112865"/>
            <a:ext cx="2571750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22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Active 70% | Low 20% | Break 10%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67200" y="3600450"/>
            <a:ext cx="8191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5803D"/>
                </a:solidFill>
                <a:latin typeface="Inter"/>
              </a:rPr>
              <a:t>STEP 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20405" y="3800475"/>
            <a:ext cx="1912739" cy="1980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b="1" sz="1200" i="0" u="none">
                <a:solidFill>
                  <a:srgbClr val="0F172A"/>
                </a:solidFill>
                <a:latin typeface="Plus Jakarta Sans"/>
              </a:rPr>
              <a:t>PICK RIGHT EXPERT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90900" y="4112865"/>
            <a:ext cx="2571750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22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Active | Break | Low | Orographic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00887" y="3600450"/>
            <a:ext cx="8286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C2410C"/>
                </a:solidFill>
                <a:latin typeface="Inter"/>
              </a:rPr>
              <a:t>STEP 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05136" y="3800475"/>
            <a:ext cx="1420177" cy="1980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b="1" sz="1200" i="0" u="none">
                <a:solidFill>
                  <a:srgbClr val="0F172A"/>
                </a:solidFill>
                <a:latin typeface="Plus Jakarta Sans"/>
              </a:rPr>
              <a:t>MIX ANSWERS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29350" y="4112865"/>
            <a:ext cx="2571750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22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Use scores to mix expert answers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39337" y="3600450"/>
            <a:ext cx="8286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A16207"/>
                </a:solidFill>
                <a:latin typeface="Inter"/>
              </a:rPr>
              <a:t>STEP 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8553" y="3800475"/>
            <a:ext cx="1950243" cy="1980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b="1" sz="1200" i="0" u="none">
                <a:solidFill>
                  <a:srgbClr val="0F172A"/>
                </a:solidFill>
                <a:latin typeface="Plus Jakarta Sans"/>
              </a:rPr>
              <a:t>WARN + SHOW MAP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67800" y="4112865"/>
            <a:ext cx="2571750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22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Heavy rain warning + District rain 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